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8" d="100"/>
          <a:sy n="118" d="100"/>
        </p:scale>
        <p:origin x="490" y="-14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69105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-731520"/>
            <a:ext cx="3200400" cy="3200400"/>
          </a:xfrm>
          <a:prstGeom prst="ellipse">
            <a:avLst/>
          </a:prstGeom>
          <a:solidFill>
            <a:srgbClr val="1A6B3A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2560320"/>
            <a:ext cx="2286000" cy="2286000"/>
          </a:xfrm>
          <a:prstGeom prst="ellipse">
            <a:avLst/>
          </a:prstGeom>
          <a:solidFill>
            <a:srgbClr val="0D9488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457200" y="3200400"/>
            <a:ext cx="1828800" cy="1828800"/>
          </a:xfrm>
          <a:prstGeom prst="ellipse">
            <a:avLst/>
          </a:prstGeom>
          <a:solidFill>
            <a:srgbClr val="34D399">
              <a:alpha val="15000"/>
            </a:srgbClr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731520"/>
            <a:ext cx="1645920" cy="1645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82296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EcoStream AI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457200" y="19202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Waste Management with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457200" y="233172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&amp; Geospatial Intelligence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457200" y="2880360"/>
            <a:ext cx="5486400" cy="36576"/>
          </a:xfrm>
          <a:prstGeom prst="rect">
            <a:avLst/>
          </a:prstGeom>
          <a:solidFill>
            <a:srgbClr val="2D6B4A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3063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300" dirty="0">
              <a:solidFill>
                <a:srgbClr val="6EE7B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300" dirty="0">
              <a:solidFill>
                <a:srgbClr val="6EE7B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300" dirty="0">
              <a:solidFill>
                <a:srgbClr val="6EE7B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300" dirty="0">
              <a:solidFill>
                <a:srgbClr val="6EE7B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400" dirty="0">
              <a:solidFill>
                <a:srgbClr val="6EE7B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4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r>
              <a:rPr lang="en-US" sz="14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 </a:t>
            </a:r>
          </a:p>
          <a:p>
            <a:r>
              <a:rPr lang="en-US" sz="14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Prajwal Patil (23BTRCT101)	</a:t>
            </a:r>
          </a:p>
          <a:p>
            <a:r>
              <a:rPr lang="en-US" sz="14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Prakash Sharma (23BTRCT104)</a:t>
            </a:r>
          </a:p>
          <a:p>
            <a:r>
              <a:rPr lang="en-US" sz="14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Neerav Babel (23BTRCt088)</a:t>
            </a:r>
            <a:br>
              <a:rPr lang="en-US" sz="14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400" dirty="0" err="1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Mahantappa</a:t>
            </a:r>
            <a:r>
              <a:rPr lang="en-US" sz="14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 Patted (23BTRCT066)</a:t>
            </a:r>
            <a:br>
              <a:rPr lang="en-US" sz="14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4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Krrish Jain (23BTRCT061)	</a:t>
            </a:r>
          </a:p>
          <a:p>
            <a:r>
              <a:rPr lang="en-US" sz="13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44119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 </a:t>
            </a:r>
            <a:r>
              <a:rPr lang="en-US" sz="1400" b="1" u="sng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</a:t>
            </a:r>
            <a:r>
              <a:rPr lang="en-US" sz="1400" b="1" u="sng" dirty="0" err="1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ShivaKumar</a:t>
            </a:r>
            <a:r>
              <a:rPr lang="en-US" sz="1400" b="1" u="sng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</a:t>
            </a:r>
            <a:endParaRPr lang="en-US" sz="1400" b="1" u="sng" dirty="0"/>
          </a:p>
        </p:txBody>
      </p:sp>
      <p:sp>
        <p:nvSpPr>
          <p:cNvPr id="13" name="Shape 1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A1F12"/>
          </a:solidFill>
          <a:ln/>
        </p:spPr>
      </p:sp>
      <p:sp>
        <p:nvSpPr>
          <p:cNvPr id="14" name="Text 11"/>
          <p:cNvSpPr/>
          <p:nvPr/>
        </p:nvSpPr>
        <p:spPr>
          <a:xfrm>
            <a:off x="457200" y="4773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PCL Review Presentation  •  Computer Vision + Geospatial AI  •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281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/  Problem Statement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73152"/>
            <a:ext cx="438912" cy="4389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2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The Problem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365760" y="1508760"/>
            <a:ext cx="2743200" cy="914400"/>
          </a:xfrm>
          <a:prstGeom prst="rect">
            <a:avLst/>
          </a:prstGeom>
          <a:solidFill>
            <a:srgbClr val="FEF3C7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11480" y="15544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Crores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11480" y="19202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wasted on inefficient routing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65760" y="2606040"/>
            <a:ext cx="2743200" cy="914400"/>
          </a:xfrm>
          <a:prstGeom prst="rect">
            <a:avLst/>
          </a:prstGeom>
          <a:solidFill>
            <a:srgbClr val="FEE2E2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11480" y="26517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60–70%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411480" y="30175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waste pickup relies on manual reporting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65760" y="3703320"/>
            <a:ext cx="2743200" cy="914400"/>
          </a:xfrm>
          <a:prstGeom prst="rect">
            <a:avLst/>
          </a:prstGeom>
          <a:solidFill>
            <a:srgbClr val="DCFCE7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11480" y="3749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Visibility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411480" y="41148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municipalities on real-time waste spots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429000" y="1463040"/>
            <a:ext cx="530352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429000" y="1463040"/>
            <a:ext cx="64008" cy="777240"/>
          </a:xfrm>
          <a:prstGeom prst="rect">
            <a:avLst/>
          </a:prstGeom>
          <a:solidFill>
            <a:srgbClr val="1A6B3A"/>
          </a:solidFill>
          <a:ln/>
        </p:spPr>
      </p:sp>
      <p:sp>
        <p:nvSpPr>
          <p:cNvPr id="17" name="Text 14"/>
          <p:cNvSpPr/>
          <p:nvPr/>
        </p:nvSpPr>
        <p:spPr>
          <a:xfrm>
            <a:off x="3611880" y="151790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🏙️  Overflowing Waste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3611880" y="181051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Uncollected garbage in urban areas causes public health hazards and environmental pollution.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3429000" y="2377440"/>
            <a:ext cx="530352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3429000" y="2377440"/>
            <a:ext cx="64008" cy="777240"/>
          </a:xfrm>
          <a:prstGeom prst="rect">
            <a:avLst/>
          </a:prstGeom>
          <a:solidFill>
            <a:srgbClr val="1A6B3A"/>
          </a:solidFill>
          <a:ln/>
        </p:spPr>
      </p:sp>
      <p:sp>
        <p:nvSpPr>
          <p:cNvPr id="21" name="Text 18"/>
          <p:cNvSpPr/>
          <p:nvPr/>
        </p:nvSpPr>
        <p:spPr>
          <a:xfrm>
            <a:off x="3611880" y="243230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🚛  Blind Routing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3611880" y="272491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Garbage trucks follow fixed routes with no data — missing critical overflow zones daily.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3429000" y="3291840"/>
            <a:ext cx="530352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3429000" y="3291840"/>
            <a:ext cx="64008" cy="777240"/>
          </a:xfrm>
          <a:prstGeom prst="rect">
            <a:avLst/>
          </a:prstGeom>
          <a:solidFill>
            <a:srgbClr val="1A6B3A"/>
          </a:solidFill>
          <a:ln/>
        </p:spPr>
      </p:sp>
      <p:sp>
        <p:nvSpPr>
          <p:cNvPr id="25" name="Text 22"/>
          <p:cNvSpPr/>
          <p:nvPr/>
        </p:nvSpPr>
        <p:spPr>
          <a:xfrm>
            <a:off x="3611880" y="334670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Manual Reporting Friction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3611880" y="363931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 must fill long forms to report waste. Most don't bother — leaving hotspots unreported.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3429000" y="4206240"/>
            <a:ext cx="530352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3429000" y="4206240"/>
            <a:ext cx="64008" cy="777240"/>
          </a:xfrm>
          <a:prstGeom prst="rect">
            <a:avLst/>
          </a:prstGeom>
          <a:solidFill>
            <a:srgbClr val="1A6B3A"/>
          </a:solidFill>
          <a:ln/>
        </p:spPr>
      </p:sp>
      <p:sp>
        <p:nvSpPr>
          <p:cNvPr id="29" name="Text 26"/>
          <p:cNvSpPr/>
          <p:nvPr/>
        </p:nvSpPr>
        <p:spPr>
          <a:xfrm>
            <a:off x="3611880" y="426110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Climate Impact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3611880" y="455371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Inefficient collection worsens urban carbon footprint and misses sustainability targets.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solidFill>
            <a:srgbClr val="1A6B3A"/>
          </a:solidFill>
          <a:ln/>
        </p:spPr>
      </p:sp>
      <p:sp>
        <p:nvSpPr>
          <p:cNvPr id="32" name="Text 29"/>
          <p:cNvSpPr/>
          <p:nvPr/>
        </p:nvSpPr>
        <p:spPr>
          <a:xfrm>
            <a:off x="457200" y="468172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Our Unique Approach: Passive AI — User just takes a photo, the system does everything else automatically.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6B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/  Proposed Solution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73152"/>
            <a:ext cx="438912" cy="4389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7315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2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How EcoStream AI Works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365760" y="1417320"/>
            <a:ext cx="8412480" cy="777240"/>
          </a:xfrm>
          <a:prstGeom prst="rect">
            <a:avLst/>
          </a:prstGeom>
          <a:solidFill>
            <a:srgbClr val="0D281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48640" y="15087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EcoStream AI is a real-time, computer-vision powered ecosystem connecting a citizen-facing smartphone scanner with a live Government Command Center — powered entirely by Passive AI.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65760" y="2377440"/>
            <a:ext cx="265176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65760" y="2377440"/>
            <a:ext cx="2651760" cy="640080"/>
          </a:xfrm>
          <a:prstGeom prst="rect">
            <a:avLst/>
          </a:prstGeom>
          <a:solidFill>
            <a:srgbClr val="1A6B3A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24231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Citizen App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02920" y="312724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Scans waste with phone camera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02920" y="3529584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Gets instant AI classification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02920" y="393192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Receives local disposal rules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02920" y="4334256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Contributes to city heatmap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200400" y="2377440"/>
            <a:ext cx="265176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200400" y="2377440"/>
            <a:ext cx="2651760" cy="640080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17" name="Text 14"/>
          <p:cNvSpPr/>
          <p:nvPr/>
        </p:nvSpPr>
        <p:spPr>
          <a:xfrm>
            <a:off x="3291840" y="24231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AI Processing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3337560" y="312724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YOLO detects waste materials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3337560" y="3529584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Llama 4 multimodal analysis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3337560" y="393192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RAG chatbot retrieves laws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3337560" y="4334256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Parallel inference pipeline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035040" y="2377440"/>
            <a:ext cx="265176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035040" y="2377440"/>
            <a:ext cx="2651760" cy="6400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4" name="Text 21"/>
          <p:cNvSpPr/>
          <p:nvPr/>
        </p:nvSpPr>
        <p:spPr>
          <a:xfrm>
            <a:off x="6126480" y="24231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 Gov Dashboard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6172200" y="312724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Live KDE heatmap updates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172200" y="3529584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Red/orange hotspot alerts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6172200" y="393192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One-click zone clearance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6172200" y="4334256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Predictive analytics view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E8F5EE"/>
          </a:solidFill>
          <a:ln/>
        </p:spPr>
      </p:sp>
      <p:sp>
        <p:nvSpPr>
          <p:cNvPr id="30" name="Text 27"/>
          <p:cNvSpPr/>
          <p:nvPr/>
        </p:nvSpPr>
        <p:spPr>
          <a:xfrm>
            <a:off x="457200" y="4828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scalable ecosystem that takes the guesswork out of keeping our cities clean."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281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/  Target Users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73152"/>
            <a:ext cx="438912" cy="4389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7315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2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Who Uses EcoStream AI?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365760" y="1463040"/>
            <a:ext cx="397764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65760" y="1463040"/>
            <a:ext cx="3977640" cy="594360"/>
          </a:xfrm>
          <a:prstGeom prst="rect">
            <a:avLst/>
          </a:prstGeom>
          <a:solidFill>
            <a:srgbClr val="1A6B3A"/>
          </a:solidFill>
          <a:ln/>
        </p:spPr>
      </p:sp>
      <p:sp>
        <p:nvSpPr>
          <p:cNvPr id="8" name="Shape 5"/>
          <p:cNvSpPr/>
          <p:nvPr/>
        </p:nvSpPr>
        <p:spPr>
          <a:xfrm>
            <a:off x="1920240" y="2011680"/>
            <a:ext cx="822960" cy="82296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9" name="Text 6"/>
          <p:cNvSpPr/>
          <p:nvPr/>
        </p:nvSpPr>
        <p:spPr>
          <a:xfrm>
            <a:off x="1920240" y="202996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👩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457200" y="150876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Eco-Warrior Citizen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2944368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Riya — The Active Resident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48640" y="33375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Sees a plastic bottle pile on her street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48640" y="35844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Doesn't know the municipal hotline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48640" y="383133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Opens EcoStream, snaps a photo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48640" y="407822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AI identifies, advises, and plots it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48640" y="43251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Feels empowered — city is cleaner!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800600" y="1463040"/>
            <a:ext cx="397764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800600" y="1463040"/>
            <a:ext cx="3977640" cy="5943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9" name="Shape 16"/>
          <p:cNvSpPr/>
          <p:nvPr/>
        </p:nvSpPr>
        <p:spPr>
          <a:xfrm>
            <a:off x="6355080" y="2011680"/>
            <a:ext cx="822960" cy="8229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0" name="Text 17"/>
          <p:cNvSpPr/>
          <p:nvPr/>
        </p:nvSpPr>
        <p:spPr>
          <a:xfrm>
            <a:off x="6355080" y="202996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👨‍💼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4892040" y="150876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 Municipal Dispatcher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892040" y="2944368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 Sharma — Gov Official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937760" y="33375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Manages fleet in Bengaluru daily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4937760" y="35844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Limited trucks, unlimited hotspots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4937760" y="383133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Opens Command Dashboard at 8 AM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4937760" y="407822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Sees live heatmap of critical zones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4937760" y="43251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Routes trucks intelligently — done!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E8F5EE"/>
          </a:solidFill>
          <a:ln/>
        </p:spPr>
      </p:sp>
      <p:sp>
        <p:nvSpPr>
          <p:cNvPr id="29" name="Text 26"/>
          <p:cNvSpPr/>
          <p:nvPr/>
        </p:nvSpPr>
        <p:spPr>
          <a:xfrm>
            <a:off x="457200" y="4828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users interact with the same backend — creating a closed-loop civic feedback system.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6B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/  Core Features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73152"/>
            <a:ext cx="438912" cy="4389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2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Core Features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320040" y="1463040"/>
            <a:ext cx="260604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20040" y="1463040"/>
            <a:ext cx="2606040" cy="73152"/>
          </a:xfrm>
          <a:prstGeom prst="rect">
            <a:avLst/>
          </a:prstGeom>
          <a:solidFill>
            <a:srgbClr val="1A6B3A"/>
          </a:solidFill>
          <a:ln/>
        </p:spPr>
      </p:sp>
      <p:sp>
        <p:nvSpPr>
          <p:cNvPr id="8" name="Text 5"/>
          <p:cNvSpPr/>
          <p:nvPr/>
        </p:nvSpPr>
        <p:spPr>
          <a:xfrm>
            <a:off x="429768" y="1591056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2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Real-time Multimodal Vision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29768" y="1920240"/>
            <a:ext cx="2423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Dual-pipeline YOLO + Llama 4 Vision engine classifies complex waste types (plastic, metal, e-waste) with high accuracy.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46120" y="1463040"/>
            <a:ext cx="260604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46120" y="1463040"/>
            <a:ext cx="2606040" cy="7315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2" name="Text 9"/>
          <p:cNvSpPr/>
          <p:nvPr/>
        </p:nvSpPr>
        <p:spPr>
          <a:xfrm>
            <a:off x="3355848" y="1591056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2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Rule-Grounded RAG Chatbot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3355848" y="1920240"/>
            <a:ext cx="2423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 grounded in local Indian municipal disposal laws. Uses ChromaDB vector store — never hallucinates.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172200" y="1463040"/>
            <a:ext cx="260604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172200" y="1463040"/>
            <a:ext cx="2606040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6" name="Text 13"/>
          <p:cNvSpPr/>
          <p:nvPr/>
        </p:nvSpPr>
        <p:spPr>
          <a:xfrm>
            <a:off x="6281928" y="1591056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2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 Live Geospatial Heatmaps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6281928" y="1920240"/>
            <a:ext cx="2423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dashboard dynamically updates Kernel Density Estimation hotspots within seconds of a citizen scan.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1325880" y="3063240"/>
            <a:ext cx="260604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1325880" y="3063240"/>
            <a:ext cx="2606040" cy="73152"/>
          </a:xfrm>
          <a:prstGeom prst="rect">
            <a:avLst/>
          </a:prstGeom>
          <a:solidFill>
            <a:srgbClr val="92400E"/>
          </a:solidFill>
          <a:ln/>
        </p:spPr>
      </p:sp>
      <p:sp>
        <p:nvSpPr>
          <p:cNvPr id="20" name="Text 17"/>
          <p:cNvSpPr/>
          <p:nvPr/>
        </p:nvSpPr>
        <p:spPr>
          <a:xfrm>
            <a:off x="1435608" y="3191256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2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Predictive Analytics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1435608" y="3520440"/>
            <a:ext cx="2423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forecasts next-day waste accumulation zones using advanced statistical modeling — proactive dispatch.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572000" y="3063240"/>
            <a:ext cx="260604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572000" y="3063240"/>
            <a:ext cx="2606040" cy="73152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24" name="Text 21"/>
          <p:cNvSpPr/>
          <p:nvPr/>
        </p:nvSpPr>
        <p:spPr>
          <a:xfrm>
            <a:off x="4681728" y="3191256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2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🚛  Zone Collection Logic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4681728" y="3520440"/>
            <a:ext cx="2423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operators clear geographical radius zones with a single click once garbage trucks pick up waste.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281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/  System Architecture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73152"/>
            <a:ext cx="438912" cy="4389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8580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2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🧱 System Architecture</a:t>
            </a:r>
            <a:endParaRPr lang="en-US" sz="28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1325880"/>
            <a:ext cx="850392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6B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/  Tech Stack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73152"/>
            <a:ext cx="438912" cy="4389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7132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D2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🛠️ Tech Stack &amp; Why These Tools?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365760" y="1463040"/>
            <a:ext cx="841248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65760" y="1463040"/>
            <a:ext cx="1280160" cy="658368"/>
          </a:xfrm>
          <a:prstGeom prst="rect">
            <a:avLst/>
          </a:prstGeom>
          <a:solidFill>
            <a:srgbClr val="1A6B3A"/>
          </a:solidFill>
          <a:ln/>
        </p:spPr>
      </p:sp>
      <p:sp>
        <p:nvSpPr>
          <p:cNvPr id="8" name="Text 5"/>
          <p:cNvSpPr/>
          <p:nvPr/>
        </p:nvSpPr>
        <p:spPr>
          <a:xfrm>
            <a:off x="384048" y="1645920"/>
            <a:ext cx="1243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783080" y="150876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 + Leaflet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783080" y="180136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Vite is 10× faster for dev. Leaflet enables interactive maps without costly Google Maps API fees.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65760" y="2185416"/>
            <a:ext cx="841248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5760" y="2185416"/>
            <a:ext cx="1280160" cy="65836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3" name="Text 10"/>
          <p:cNvSpPr/>
          <p:nvPr/>
        </p:nvSpPr>
        <p:spPr>
          <a:xfrm>
            <a:off x="384048" y="2368296"/>
            <a:ext cx="1243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1783080" y="223113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(Python)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1783080" y="252374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Async by design — handles hundreds of concurrent AI image streams flawlessly with minimal latency.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65760" y="2907792"/>
            <a:ext cx="841248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65760" y="2907792"/>
            <a:ext cx="1280160" cy="658368"/>
          </a:xfrm>
          <a:prstGeom prst="rect">
            <a:avLst/>
          </a:prstGeom>
          <a:solidFill>
            <a:srgbClr val="4C1D95"/>
          </a:solidFill>
          <a:ln/>
        </p:spPr>
      </p:sp>
      <p:sp>
        <p:nvSpPr>
          <p:cNvPr id="18" name="Text 15"/>
          <p:cNvSpPr/>
          <p:nvPr/>
        </p:nvSpPr>
        <p:spPr>
          <a:xfrm>
            <a:off x="384048" y="3090672"/>
            <a:ext cx="1243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1783080" y="295351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YOLOv11 + LangChain + Llama 4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1783080" y="32461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YOLO for lightning-fast edge inference. Llama 4 for state-of-the-art open-weights multimodal understanding.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365760" y="3630168"/>
            <a:ext cx="841248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365760" y="3630168"/>
            <a:ext cx="1280160" cy="658368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23" name="Text 20"/>
          <p:cNvSpPr/>
          <p:nvPr/>
        </p:nvSpPr>
        <p:spPr>
          <a:xfrm>
            <a:off x="384048" y="3813048"/>
            <a:ext cx="1243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1783080" y="367588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EarthDistance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1783080" y="396849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Postgres processes GIS radius checks natively at blazing speed — traditional DBs can't match this.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365760" y="4352544"/>
            <a:ext cx="841248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365760" y="4352544"/>
            <a:ext cx="1280160" cy="658368"/>
          </a:xfrm>
          <a:prstGeom prst="rect">
            <a:avLst/>
          </a:prstGeom>
          <a:solidFill>
            <a:srgbClr val="92400E"/>
          </a:solidFill>
          <a:ln/>
        </p:spPr>
      </p:sp>
      <p:sp>
        <p:nvSpPr>
          <p:cNvPr id="28" name="Text 25"/>
          <p:cNvSpPr/>
          <p:nvPr/>
        </p:nvSpPr>
        <p:spPr>
          <a:xfrm>
            <a:off x="384048" y="4535424"/>
            <a:ext cx="1243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1783080" y="439826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Microservices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1783080" y="469087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Heavy Vision container isolated from API routing — prevents crashes, enables independent scaling.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281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/  Workflow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73152"/>
            <a:ext cx="438912" cy="4389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7132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2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End-to-End Workflow</a:t>
            </a:r>
            <a:endParaRPr lang="en-US" sz="28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1353312"/>
            <a:ext cx="8503920" cy="29260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365760" y="4434840"/>
            <a:ext cx="1920240" cy="594360"/>
          </a:xfrm>
          <a:prstGeom prst="rect">
            <a:avLst/>
          </a:prstGeom>
          <a:solidFill>
            <a:srgbClr val="1A6B3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438912" y="4471416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Capture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438912" y="4727448"/>
            <a:ext cx="1792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camera + GPS fetch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2468880" y="4434840"/>
            <a:ext cx="1920240" cy="594360"/>
          </a:xfrm>
          <a:prstGeom prst="rect">
            <a:avLst/>
          </a:prstGeom>
          <a:solidFill>
            <a:srgbClr val="065F46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2542032" y="4471416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Analyze (Parallel)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2542032" y="4727448"/>
            <a:ext cx="1792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+ RAG simultaneously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4572000" y="4434840"/>
            <a:ext cx="1920240" cy="594360"/>
          </a:xfrm>
          <a:prstGeom prst="rect">
            <a:avLst/>
          </a:prstGeom>
          <a:solidFill>
            <a:srgbClr val="1E3A5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4645152" y="4471416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Store &amp; Plot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4645152" y="4727448"/>
            <a:ext cx="1792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KDE scoring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6675120" y="4434840"/>
            <a:ext cx="1920240" cy="594360"/>
          </a:xfrm>
          <a:prstGeom prst="rect">
            <a:avLst/>
          </a:prstGeom>
          <a:solidFill>
            <a:srgbClr val="92400E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6748272" y="4471416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Resolve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6748272" y="4727448"/>
            <a:ext cx="1792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 truck + clear zone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6B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/  Future Scope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73152"/>
            <a:ext cx="438912" cy="4389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7132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2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Innovation Roadmap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347472" y="1463040"/>
            <a:ext cx="269748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47472" y="1463040"/>
            <a:ext cx="2697480" cy="777240"/>
          </a:xfrm>
          <a:prstGeom prst="rect">
            <a:avLst/>
          </a:prstGeom>
          <a:solidFill>
            <a:srgbClr val="1A6B3A"/>
          </a:solidFill>
          <a:ln/>
        </p:spPr>
      </p:sp>
      <p:sp>
        <p:nvSpPr>
          <p:cNvPr id="8" name="Text 5"/>
          <p:cNvSpPr/>
          <p:nvPr/>
        </p:nvSpPr>
        <p:spPr>
          <a:xfrm>
            <a:off x="438912" y="150876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38912" y="175564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 Gamification &amp; Eco-Tokens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2359152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Reward citizens with 'Eco-Tokens' for reporting waste correctly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57200" y="2953512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Municipal tax discounts for top eco-warriors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57200" y="3547872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Leaderboards and community challenges per ward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57200" y="4142232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Increases citizen participation rate exponentially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273552" y="1463040"/>
            <a:ext cx="269748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273552" y="1463040"/>
            <a:ext cx="2697480" cy="7772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6" name="Text 13"/>
          <p:cNvSpPr/>
          <p:nvPr/>
        </p:nvSpPr>
        <p:spPr>
          <a:xfrm>
            <a:off x="3364992" y="150876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3364992" y="175564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🚛 Automated Truck Dispatch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3383280" y="2359152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Connect hotspot prediction to VRP (Vehicle Routing Problem) solver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3383280" y="2953512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Auto-generate optimal truck routes each morning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383280" y="3547872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Reduces fuel consumption and response time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3383280" y="4142232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Integration with smart city infrastructure APIs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6199632" y="1463040"/>
            <a:ext cx="269748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199632" y="1463040"/>
            <a:ext cx="2697480" cy="777240"/>
          </a:xfrm>
          <a:prstGeom prst="rect">
            <a:avLst/>
          </a:prstGeom>
          <a:solidFill>
            <a:srgbClr val="4C1D95"/>
          </a:solidFill>
          <a:ln/>
        </p:spPr>
      </p:sp>
      <p:sp>
        <p:nvSpPr>
          <p:cNvPr id="24" name="Text 21"/>
          <p:cNvSpPr/>
          <p:nvPr/>
        </p:nvSpPr>
        <p:spPr>
          <a:xfrm>
            <a:off x="6291072" y="150876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291072" y="175564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Native Mobile App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6309360" y="2359152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Port Vite PWA to true React Native iOS/Android app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6309360" y="2953512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Background GPS tracking for passive reporting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6309360" y="3547872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Offline-first capability for low-connectivity areas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6309360" y="4142232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App Store &amp; Play Store distribution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E8F5EE"/>
          </a:solidFill>
          <a:ln/>
        </p:spPr>
      </p:sp>
      <p:sp>
        <p:nvSpPr>
          <p:cNvPr id="31" name="Text 28"/>
          <p:cNvSpPr/>
          <p:nvPr/>
        </p:nvSpPr>
        <p:spPr>
          <a:xfrm>
            <a:off x="457200" y="4828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Vision: A self-sustaining smart city waste ecosystem powered by community + AI + automation.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2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1A6B3A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2743200"/>
            <a:ext cx="2743200" cy="2743200"/>
          </a:xfrm>
          <a:prstGeom prst="ellipse">
            <a:avLst/>
          </a:prstGeom>
          <a:solidFill>
            <a:srgbClr val="0D9488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Conclusion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33464" y="947928"/>
            <a:ext cx="8544776" cy="923544"/>
          </a:xfrm>
          <a:prstGeom prst="rect">
            <a:avLst/>
          </a:prstGeom>
          <a:solidFill>
            <a:srgbClr val="0A2E1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6012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dirty="0">
              <a:solidFill>
                <a:srgbClr val="A7F3D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endParaRPr lang="en-US" dirty="0">
              <a:solidFill>
                <a:srgbClr val="A7F3D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dirty="0" err="1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EcoStream</a:t>
            </a:r>
            <a:r>
              <a:rPr lang="en-US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AI bridges the gap between civic responsibility and municipal efficiency through the power of multi-modal AI tracking.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11480" y="2624328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78408" y="281635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11480" y="329184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806440" y="1929384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806440" y="2359152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0" y="4605528"/>
            <a:ext cx="9144000" cy="537972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pPr algn="ctr"/>
            <a:r>
              <a:rPr lang="en-US" sz="1400" b="1" i="0" dirty="0">
                <a:solidFill>
                  <a:schemeClr val="accent6">
                    <a:lumMod val="50000"/>
                  </a:schemeClr>
                </a:solidFill>
                <a:effectLst/>
                <a:latin typeface="Segoe WPC"/>
              </a:rPr>
              <a:t>"A scalable, production-ready ecosystem that proves AI can take the guesswork out of keeping our cities clean and sustainable."</a:t>
            </a:r>
            <a:endParaRPr lang="en-IN" sz="14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5" name="Text 33"/>
          <p:cNvSpPr/>
          <p:nvPr/>
        </p:nvSpPr>
        <p:spPr>
          <a:xfrm>
            <a:off x="365760" y="4764024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50" dirty="0"/>
          </a:p>
        </p:txBody>
      </p:sp>
      <p:sp>
        <p:nvSpPr>
          <p:cNvPr id="36" name="Shape 3">
            <a:extLst>
              <a:ext uri="{FF2B5EF4-FFF2-40B4-BE49-F238E27FC236}">
                <a16:creationId xmlns:a16="http://schemas.microsoft.com/office/drawing/2014/main" id="{30B85E7F-5238-4DB9-86C0-FF5057737FE5}"/>
              </a:ext>
            </a:extLst>
          </p:cNvPr>
          <p:cNvSpPr/>
          <p:nvPr/>
        </p:nvSpPr>
        <p:spPr>
          <a:xfrm>
            <a:off x="233464" y="2456688"/>
            <a:ext cx="8544776" cy="384048"/>
          </a:xfrm>
          <a:prstGeom prst="rect">
            <a:avLst/>
          </a:prstGeom>
          <a:solidFill>
            <a:srgbClr val="0A2E1A"/>
          </a:solidFill>
          <a:ln/>
        </p:spPr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CCCCCC"/>
                </a:solidFill>
                <a:effectLst/>
                <a:latin typeface="Segoe WPC"/>
              </a:rPr>
              <a:t> Delivered a fully asynchronous, multimodal AI pipeline capable of complex environmental classification.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945960D-175D-4AAE-AB6D-21B96BA8B37F}"/>
              </a:ext>
            </a:extLst>
          </p:cNvPr>
          <p:cNvSpPr txBox="1"/>
          <p:nvPr/>
        </p:nvSpPr>
        <p:spPr>
          <a:xfrm>
            <a:off x="161642" y="2069144"/>
            <a:ext cx="57166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i="0" dirty="0">
                <a:solidFill>
                  <a:srgbClr val="CCCCCC"/>
                </a:solidFill>
                <a:effectLst/>
                <a:latin typeface="Segoe WPC"/>
              </a:rPr>
              <a:t>Technological Milestones:</a:t>
            </a:r>
            <a:endParaRPr lang="en-IN" sz="1400" dirty="0"/>
          </a:p>
        </p:txBody>
      </p:sp>
      <p:sp>
        <p:nvSpPr>
          <p:cNvPr id="39" name="Shape 3">
            <a:extLst>
              <a:ext uri="{FF2B5EF4-FFF2-40B4-BE49-F238E27FC236}">
                <a16:creationId xmlns:a16="http://schemas.microsoft.com/office/drawing/2014/main" id="{EF8093C1-EC5C-4B2D-BD73-9C11B4637340}"/>
              </a:ext>
            </a:extLst>
          </p:cNvPr>
          <p:cNvSpPr/>
          <p:nvPr/>
        </p:nvSpPr>
        <p:spPr>
          <a:xfrm>
            <a:off x="233464" y="2925172"/>
            <a:ext cx="8544776" cy="384048"/>
          </a:xfrm>
          <a:prstGeom prst="rect">
            <a:avLst/>
          </a:prstGeom>
          <a:solidFill>
            <a:srgbClr val="0A2E1A"/>
          </a:solidFill>
          <a:ln/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CCCCCC"/>
                </a:solidFill>
                <a:effectLst/>
                <a:latin typeface="Segoe WPC"/>
              </a:rPr>
              <a:t> Built a zero-hallucination RAG chatbot ensuring strict compliance with local government disposal laws.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sz="1400" b="0" i="0" dirty="0">
              <a:solidFill>
                <a:srgbClr val="CCCCCC"/>
              </a:solidFill>
              <a:effectLst/>
              <a:latin typeface="Segoe WPC"/>
            </a:endParaRPr>
          </a:p>
        </p:txBody>
      </p:sp>
      <p:sp>
        <p:nvSpPr>
          <p:cNvPr id="40" name="Shape 3">
            <a:extLst>
              <a:ext uri="{FF2B5EF4-FFF2-40B4-BE49-F238E27FC236}">
                <a16:creationId xmlns:a16="http://schemas.microsoft.com/office/drawing/2014/main" id="{E3797524-F056-4EC1-B654-EBED428EDBB9}"/>
              </a:ext>
            </a:extLst>
          </p:cNvPr>
          <p:cNvSpPr/>
          <p:nvPr/>
        </p:nvSpPr>
        <p:spPr>
          <a:xfrm>
            <a:off x="233464" y="3390138"/>
            <a:ext cx="8544776" cy="384048"/>
          </a:xfrm>
          <a:prstGeom prst="rect">
            <a:avLst/>
          </a:prstGeom>
          <a:solidFill>
            <a:srgbClr val="0A2E1A"/>
          </a:solidFill>
          <a:ln/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CCCCCC"/>
                </a:solidFill>
                <a:effectLst/>
                <a:latin typeface="Segoe WPC"/>
              </a:rPr>
              <a:t> Integrated real-time GIS mathematical forecasting (KDE) to replace manual infrastructure surveys.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sz="1400" b="0" i="0" dirty="0">
              <a:solidFill>
                <a:srgbClr val="CCCCCC"/>
              </a:solidFill>
              <a:effectLst/>
              <a:latin typeface="Segoe WP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945</Words>
  <Application>Microsoft Office PowerPoint</Application>
  <PresentationFormat>On-screen Show (16:9)</PresentationFormat>
  <Paragraphs>151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Segoe WPC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EcoStream AI</dc:title>
  <dc:subject>PptxGenJS Presentation</dc:subject>
  <dc:creator>PptxGenJS</dc:creator>
  <cp:lastModifiedBy>neerav babel</cp:lastModifiedBy>
  <cp:revision>5</cp:revision>
  <dcterms:created xsi:type="dcterms:W3CDTF">2026-04-09T18:51:40Z</dcterms:created>
  <dcterms:modified xsi:type="dcterms:W3CDTF">2026-04-09T19:26:14Z</dcterms:modified>
</cp:coreProperties>
</file>